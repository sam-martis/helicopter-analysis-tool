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ewjkpCJg5j33CwadYuVafIm6m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6B9F17-360A-46D5-AB95-FC21EC78F58A}">
  <a:tblStyle styleId="{ED6B9F17-360A-46D5-AB95-FC21EC78F5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CF8DD53-E438-48F6-A925-EB34771BB8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ee79a317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8ee79a317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9cc3c0b69cf0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9cc3c0b69cf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e79a317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8ee79a317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ee79a317f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ee79a317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b17d9d83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5b17d9d8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1cf26193097ed3b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61cf26193097ed3b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1cf26193097ed3b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61cf26193097ed3b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1cf26193097ed3b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1cf26193097ed3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3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2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9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29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29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1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0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airfoiltools.com/airfoil/naca4digit" TargetMode="External"/><Relationship Id="rId4" Type="http://schemas.openxmlformats.org/officeDocument/2006/relationships/hyperlink" Target="http://airfoiltools.com/airfoil/naca4digit" TargetMode="External"/><Relationship Id="rId9" Type="http://schemas.openxmlformats.org/officeDocument/2006/relationships/hyperlink" Target="https://ntrs.nasa.gov/archive/nasa/casi.ntrs.nasa.gov/19930081433.pdf" TargetMode="External"/><Relationship Id="rId5" Type="http://schemas.openxmlformats.org/officeDocument/2006/relationships/hyperlink" Target="https://en.wikipedia.org/wiki/Blade_element_momentum_theory" TargetMode="External"/><Relationship Id="rId6" Type="http://schemas.openxmlformats.org/officeDocument/2006/relationships/hyperlink" Target="https://en.wikipedia.org/wiki/Blade_element_momentum_theory" TargetMode="External"/><Relationship Id="rId7" Type="http://schemas.openxmlformats.org/officeDocument/2006/relationships/hyperlink" Target="https://www.youtube.com/watch?v=b7JzgybKvys" TargetMode="External"/><Relationship Id="rId8" Type="http://schemas.openxmlformats.org/officeDocument/2006/relationships/hyperlink" Target="https://www.youtube.com/watch?v=b7JzgybKvy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Compound Helicopter - Assignment 1</a:t>
            </a:r>
            <a:endParaRPr b="1"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NAME: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ROLL NUMBER: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1338925" y="651709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Calibri"/>
              <a:buNone/>
            </a:pPr>
            <a:r>
              <a:rPr b="0" i="0" lang="en-US" sz="6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Team Member Contribution</a:t>
            </a:r>
            <a:endParaRPr b="0" i="0" sz="73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1126275" y="17947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1277500"/>
                <a:gridCol w="1838125"/>
                <a:gridCol w="1938725"/>
                <a:gridCol w="1169225"/>
                <a:gridCol w="3715850"/>
              </a:tblGrid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Sr.No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Roll Number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Contribution Level (0 - 5)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Specifics of contribution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23b0046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800"/>
                        <a:t>Samanth Martis</a:t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Making the  </a:t>
                      </a:r>
                      <a:r>
                        <a:rPr b="1" lang="en-US" sz="1800"/>
                        <a:t>performance</a:t>
                      </a:r>
                      <a:r>
                        <a:rPr b="1" lang="en-US" sz="1800"/>
                        <a:t> estimator tool and Mission planner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23b0079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Ayush Kumar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Performance estimator tool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3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23b0011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Ambika Soni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Mission planner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4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23b0065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800"/>
                        <a:t>Konda Venkata Srivatchav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Performance estimator tool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50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5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Section 1: </a:t>
            </a:r>
            <a:br>
              <a:rPr b="1" lang="en-US"/>
            </a:br>
            <a:r>
              <a:rPr lang="en-US" sz="7200"/>
              <a:t>Assumptions &amp; Data </a:t>
            </a:r>
            <a:endParaRPr sz="7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1066800" y="884486"/>
            <a:ext cx="10058400" cy="8207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1.1 </a:t>
            </a:r>
            <a:r>
              <a:rPr lang="en-US"/>
              <a:t>Physics Assumptions/Data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1036320" y="3729790"/>
            <a:ext cx="10058400" cy="8207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1.2 </a:t>
            </a:r>
            <a:r>
              <a:rPr b="0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Environmental Assumptions/Data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249680" y="2105488"/>
            <a:ext cx="10058400" cy="16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522396" y="4878198"/>
            <a:ext cx="10058400" cy="16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1249680" y="4710069"/>
            <a:ext cx="10058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522396" y="1945999"/>
            <a:ext cx="10058400" cy="16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1270318" y="1887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10037750"/>
              </a:tblGrid>
              <a:tr h="170740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Flow is assumed to be incompressible  inviscid and steady while M(tip)&lt;0.3, density is constant.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Ignored blade wake interaction and compressibility ;Prandtl tip-loss factor used 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Neglected swirl losses. The blade elements are considered to be independent sections.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Viscous effects are neglected in the Blade element momentum theory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5D9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Google Shape;125;p4"/>
          <p:cNvGraphicFramePr/>
          <p:nvPr/>
        </p:nvGraphicFramePr>
        <p:xfrm>
          <a:off x="1270318" y="4710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10037750"/>
              </a:tblGrid>
              <a:tr h="1406600">
                <a:tc>
                  <a:txBody>
                    <a:bodyPr/>
                    <a:lstStyle/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Value of gravitational constant assumed to be constant(9.81) at all altitudes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Assumed pressure and temperature as per the ISA  model and assumed wind velocity to be zero 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ISA model was used to calculate the pressure , temperature at different altitudes.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Assumed that the pressure , temperature conditions do not change while climbing with a constant velocity.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5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e79a317f_0_0"/>
          <p:cNvSpPr txBox="1"/>
          <p:nvPr>
            <p:ph type="title"/>
          </p:nvPr>
        </p:nvSpPr>
        <p:spPr>
          <a:xfrm>
            <a:off x="1066800" y="884486"/>
            <a:ext cx="100584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1.3 </a:t>
            </a:r>
            <a:r>
              <a:rPr lang="en-US"/>
              <a:t>Vehicle Assumptions/Data</a:t>
            </a:r>
            <a:endParaRPr/>
          </a:p>
        </p:txBody>
      </p:sp>
      <p:sp>
        <p:nvSpPr>
          <p:cNvPr id="131" name="Google Shape;131;g38ee79a317f_0_0"/>
          <p:cNvSpPr txBox="1"/>
          <p:nvPr/>
        </p:nvSpPr>
        <p:spPr>
          <a:xfrm>
            <a:off x="1522396" y="1945999"/>
            <a:ext cx="100584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g38ee79a317f_0_0"/>
          <p:cNvGraphicFramePr/>
          <p:nvPr/>
        </p:nvGraphicFramePr>
        <p:xfrm>
          <a:off x="1270318" y="2005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10037750"/>
              </a:tblGrid>
              <a:tr h="1203725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2D airfoil data for lift(Cl) and drag(Cd) coefficients are taken from standard tables and websites.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The total drag of the aircraft is modeled using a parabolic drag polar equation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The vertical drag (air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flow coming from the top of the fuselage/ rotor exit flow)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 on the fuselage and tail surfaces were assumed to be absent in this assignment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Only Horizontal drag is taken into account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No drag due to the Tail airflow (the air which the tail pushes back on to the helicopter tail)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The modelling of the drag of the fuselage is done by thinking the helicopter is made Two cylinders connected axially with two different radius and also a rectangular slab at the back.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5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e89cc3c0b69cf07_0"/>
          <p:cNvPicPr preferRelativeResize="0"/>
          <p:nvPr/>
        </p:nvPicPr>
        <p:blipFill rotWithShape="1">
          <a:blip r:embed="rId3">
            <a:alphaModFix/>
          </a:blip>
          <a:srcRect b="8035" l="10082" r="16587" t="11286"/>
          <a:stretch/>
        </p:blipFill>
        <p:spPr>
          <a:xfrm>
            <a:off x="1685003" y="295821"/>
            <a:ext cx="7929948" cy="545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ee79a317f_0_6"/>
          <p:cNvSpPr txBox="1"/>
          <p:nvPr>
            <p:ph type="title"/>
          </p:nvPr>
        </p:nvSpPr>
        <p:spPr>
          <a:xfrm>
            <a:off x="1066800" y="884486"/>
            <a:ext cx="100584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1.4 </a:t>
            </a:r>
            <a:r>
              <a:rPr lang="en-US"/>
              <a:t>Flight Condition Assumptions/Data</a:t>
            </a:r>
            <a:endParaRPr/>
          </a:p>
        </p:txBody>
      </p:sp>
      <p:sp>
        <p:nvSpPr>
          <p:cNvPr id="143" name="Google Shape;143;g38ee79a317f_0_6"/>
          <p:cNvSpPr txBox="1"/>
          <p:nvPr/>
        </p:nvSpPr>
        <p:spPr>
          <a:xfrm>
            <a:off x="1249680" y="2105488"/>
            <a:ext cx="100584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8ee79a317f_0_6"/>
          <p:cNvSpPr txBox="1"/>
          <p:nvPr/>
        </p:nvSpPr>
        <p:spPr>
          <a:xfrm>
            <a:off x="1522396" y="1945999"/>
            <a:ext cx="10058400" cy="1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g38ee79a317f_0_6"/>
          <p:cNvGraphicFramePr/>
          <p:nvPr/>
        </p:nvGraphicFramePr>
        <p:xfrm>
          <a:off x="1270318" y="2005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10037750"/>
              </a:tblGrid>
              <a:tr h="1203725">
                <a:tc>
                  <a:txBody>
                    <a:bodyPr/>
                    <a:lstStyle/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Steady and unaccelerated flight. Constant speed during climb and constant altitude during hover.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Radial flow components are neglected (purely axial plus tangential flow assumed)</a:t>
                      </a:r>
                      <a:endParaRPr/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Mutual interference between blades neglected.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There is no tilt in the rotor shaft.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All the angles (β0, β1s, β1c, θ0, θ1s, θ1c) are all assumed to be small.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β1c &gt;&gt; β1s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The rotor torque is normal to the TPP (Tip Path Plane).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The distance of the tail rotor from the axis of main rotor is assumed to be long enough such that Thrust of Tail is minimum.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Thrust of the tail is small enough to justify a first order approximation in the 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β1s angle. 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5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Section 2: </a:t>
            </a:r>
            <a:br>
              <a:rPr b="1" lang="en-US"/>
            </a:br>
            <a:r>
              <a:rPr lang="en-US" sz="6600"/>
              <a:t>Algorithm/Logic Flow Diagrams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1097275" y="47800"/>
            <a:ext cx="10058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b="1" lang="en-US"/>
              <a:t>2.1:</a:t>
            </a:r>
            <a:r>
              <a:rPr lang="en-US"/>
              <a:t> Working/Algorithm/Logic Flow Diagram of the Performance Estimator Tool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4405275" y="2010275"/>
            <a:ext cx="36840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" y="1291825"/>
            <a:ext cx="4364950" cy="549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4">
            <a:alphaModFix/>
          </a:blip>
          <a:srcRect b="-2120" l="3420" r="-3420" t="2120"/>
          <a:stretch/>
        </p:blipFill>
        <p:spPr>
          <a:xfrm>
            <a:off x="6244325" y="1291825"/>
            <a:ext cx="5093350" cy="549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8ee79a317f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75" y="187675"/>
            <a:ext cx="4653488" cy="633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8ee79a317f_0_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850" y="187675"/>
            <a:ext cx="4787175" cy="633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85b17d9d83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925" y="434625"/>
            <a:ext cx="7505700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1097275" y="112050"/>
            <a:ext cx="100584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b="1" lang="en-US"/>
              <a:t>2.2:</a:t>
            </a:r>
            <a:r>
              <a:rPr lang="en-US"/>
              <a:t> Working/Algorithm/Logic Flow Diagram of the Mission Planner </a:t>
            </a:r>
            <a:endParaRPr/>
          </a:p>
        </p:txBody>
      </p:sp>
      <p:pic>
        <p:nvPicPr>
          <p:cNvPr id="175" name="Google Shape;17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50" y="1165375"/>
            <a:ext cx="4717500" cy="50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8475" y="1165375"/>
            <a:ext cx="6677025" cy="5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Section 3: </a:t>
            </a:r>
            <a:br>
              <a:rPr b="1" lang="en-US"/>
            </a:br>
            <a:r>
              <a:rPr lang="en-US"/>
              <a:t>Pilot Input Tests and Observations</a:t>
            </a:r>
            <a:endParaRPr sz="7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1154980" y="1767878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3.1: Plot of F</a:t>
            </a:r>
            <a:r>
              <a:rPr b="1" baseline="-25000" lang="en-US"/>
              <a:t>x</a:t>
            </a:r>
            <a:r>
              <a:rPr b="1" lang="en-US"/>
              <a:t>, F</a:t>
            </a:r>
            <a:r>
              <a:rPr b="1" baseline="-25000" lang="en-US"/>
              <a:t>Y</a:t>
            </a:r>
            <a:r>
              <a:rPr b="1" lang="en-US"/>
              <a:t>, F</a:t>
            </a:r>
            <a:r>
              <a:rPr b="1" baseline="-25000" lang="en-US"/>
              <a:t>Z</a:t>
            </a:r>
            <a:r>
              <a:rPr b="1" lang="en-US"/>
              <a:t>, M</a:t>
            </a:r>
            <a:r>
              <a:rPr b="1" baseline="-25000" lang="en-US"/>
              <a:t>X</a:t>
            </a:r>
            <a:r>
              <a:rPr b="1" lang="en-US"/>
              <a:t>, M</a:t>
            </a:r>
            <a:r>
              <a:rPr b="1" baseline="-25000" lang="en-US"/>
              <a:t>Y</a:t>
            </a:r>
            <a:r>
              <a:rPr b="1" lang="en-US"/>
              <a:t>, M</a:t>
            </a:r>
            <a:r>
              <a:rPr b="1" baseline="-25000" lang="en-US"/>
              <a:t>Z </a:t>
            </a:r>
            <a:r>
              <a:rPr b="1" lang="en-US"/>
              <a:t>with changes in pilot inputs</a:t>
            </a:r>
            <a:endParaRPr baseline="-2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61cf26193097ed3b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293" y="171301"/>
            <a:ext cx="8675424" cy="57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61cf26193097ed3b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68" y="106827"/>
            <a:ext cx="9192576" cy="612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61cf26193097ed3b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921" y="145551"/>
            <a:ext cx="9181275" cy="61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592000" y="291181"/>
            <a:ext cx="11343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b="1" lang="en-US"/>
              <a:t>3.2: Observation and reasoning for behaviour of F</a:t>
            </a:r>
            <a:r>
              <a:rPr b="1" baseline="-25000" lang="en-US"/>
              <a:t>x</a:t>
            </a:r>
            <a:r>
              <a:rPr b="1" lang="en-US"/>
              <a:t>, F</a:t>
            </a:r>
            <a:r>
              <a:rPr b="1" baseline="-25000" lang="en-US"/>
              <a:t>Y</a:t>
            </a:r>
            <a:r>
              <a:rPr b="1" lang="en-US"/>
              <a:t>, F</a:t>
            </a:r>
            <a:r>
              <a:rPr b="1" baseline="-25000" lang="en-US"/>
              <a:t>Z</a:t>
            </a:r>
            <a:r>
              <a:rPr b="1" lang="en-US"/>
              <a:t>, M</a:t>
            </a:r>
            <a:r>
              <a:rPr b="1" baseline="-25000" lang="en-US"/>
              <a:t>X</a:t>
            </a:r>
            <a:r>
              <a:rPr b="1" lang="en-US"/>
              <a:t>, M</a:t>
            </a:r>
            <a:r>
              <a:rPr b="1" baseline="-25000" lang="en-US"/>
              <a:t>Y</a:t>
            </a:r>
            <a:r>
              <a:rPr b="1" lang="en-US"/>
              <a:t>, M</a:t>
            </a:r>
            <a:r>
              <a:rPr b="1" baseline="-25000" lang="en-US"/>
              <a:t>Z .</a:t>
            </a:r>
            <a:endParaRPr/>
          </a:p>
        </p:txBody>
      </p:sp>
      <p:graphicFrame>
        <p:nvGraphicFramePr>
          <p:cNvPr id="207" name="Google Shape;207;p13"/>
          <p:cNvGraphicFramePr/>
          <p:nvPr/>
        </p:nvGraphicFramePr>
        <p:xfrm>
          <a:off x="233898" y="1349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{FCF8DD53-E438-48F6-A925-EB34771BB81E}</a:tableStyleId>
              </a:tblPr>
              <a:tblGrid>
                <a:gridCol w="6029750"/>
                <a:gridCol w="6029750"/>
              </a:tblGrid>
              <a:tr h="3512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Variation in Theta0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11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 observed from the graphs, with an increase in theta0: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is increasing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Power is increasing 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Mx</a:t>
                      </a:r>
                      <a:r>
                        <a:rPr baseline="-25000" lang="en-US"/>
                        <a:t> </a:t>
                      </a:r>
                      <a:r>
                        <a:rPr lang="en-US"/>
                        <a:t>decreasing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My is increasing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is increasing because, the pitch is increasing and Hence the angle of attack is increasing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Power is increasing because with increased Cl, the drag will also increase quadratically. (trend approximation)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My is increasing because now the torque by the main rotor is more than the trim settings, torque as increased due to the increase in drag.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12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Variation in Theta1c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91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 observed from the graphs, with an increase in theata1c: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is increasing through very less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there is a significant decrease in power required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Mx and My are decreasing.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in increasing because for certain region on the rotor blade sweep area, more lift will be generated though not really significant.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12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Variation in Theta1s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128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 observed from the graphs, with an increase in theta1s: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is increasing more significantly than in the case of increase in theta1s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there is an increase in power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Mx is decreasing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My is increasing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-US"/>
                        <a:t>Thrust is increasing because for a certain region on the rotor balde sweep area, more lift will be generated.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Section 4: </a:t>
            </a:r>
            <a:br>
              <a:rPr b="1" lang="en-US"/>
            </a:br>
            <a:r>
              <a:rPr lang="en-US" sz="6600"/>
              <a:t>Trim Settings</a:t>
            </a:r>
            <a:endParaRPr sz="7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4.1:Trim settings and resultant forces and moments</a:t>
            </a:r>
            <a:endParaRPr/>
          </a:p>
        </p:txBody>
      </p:sp>
      <p:graphicFrame>
        <p:nvGraphicFramePr>
          <p:cNvPr id="218" name="Google Shape;218;p15"/>
          <p:cNvGraphicFramePr/>
          <p:nvPr/>
        </p:nvGraphicFramePr>
        <p:xfrm>
          <a:off x="1096963" y="184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θ</a:t>
                      </a:r>
                      <a:r>
                        <a:rPr b="0" baseline="-2500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11.5 degree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B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="0" baseline="-25000" lang="en-US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b="0" baseline="-2500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B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-1744 N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BF3E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θ</a:t>
                      </a:r>
                      <a:r>
                        <a:rPr b="0" baseline="-25000" lang="en-US" sz="1800">
                          <a:solidFill>
                            <a:schemeClr val="dk1"/>
                          </a:solidFill>
                        </a:rPr>
                        <a:t>1s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-6.51 degree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r>
                        <a:rPr baseline="-25000" lang="en-US" sz="1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 N (assumed)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θ</a:t>
                      </a:r>
                      <a:r>
                        <a:rPr b="0" baseline="-25000" lang="en-US" sz="1800">
                          <a:solidFill>
                            <a:schemeClr val="dk1"/>
                          </a:solidFill>
                        </a:rPr>
                        <a:t>1c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3.68 degree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r>
                        <a:rPr baseline="-25000" lang="en-US" sz="1800"/>
                        <a:t>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37, 278 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>
                          <a:solidFill>
                            <a:schemeClr val="dk1"/>
                          </a:solidFill>
                        </a:rPr>
                        <a:t>θ</a:t>
                      </a:r>
                      <a:r>
                        <a:rPr b="0" baseline="-25000" lang="en-US" sz="2000">
                          <a:solidFill>
                            <a:schemeClr val="dk1"/>
                          </a:solidFill>
                        </a:rPr>
                        <a:t>0,t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r>
                        <a:rPr baseline="-25000"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-191. 7 N-m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α</a:t>
                      </a:r>
                      <a:r>
                        <a:rPr b="0" baseline="-25000" lang="en-US" sz="1800">
                          <a:solidFill>
                            <a:schemeClr val="dk1"/>
                          </a:solidFill>
                        </a:rPr>
                        <a:t>TPP</a:t>
                      </a:r>
                      <a:endParaRPr baseline="-25000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2.68 degree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r>
                        <a:rPr baseline="-25000" lang="en-US" sz="1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48,125 N-m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Any Other 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Omega= 47.12 rad/s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r>
                        <a:rPr baseline="-25000" lang="en-US" sz="1800"/>
                        <a:t>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158.9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β</a:t>
                      </a:r>
                      <a:r>
                        <a:rPr baseline="-25000"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5.57 degree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Section 5: </a:t>
            </a:r>
            <a:br>
              <a:rPr b="1" lang="en-US"/>
            </a:br>
            <a:r>
              <a:rPr lang="en-US" sz="6600"/>
              <a:t>Mission Planner Test </a:t>
            </a:r>
            <a:endParaRPr sz="7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1161288" y="356617"/>
            <a:ext cx="10058400" cy="10789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Findings for compound helicopter in trim conditions ( at 2000m AMSL)</a:t>
            </a:r>
            <a:endParaRPr/>
          </a:p>
        </p:txBody>
      </p:sp>
      <p:graphicFrame>
        <p:nvGraphicFramePr>
          <p:cNvPr id="229" name="Google Shape;229;p17"/>
          <p:cNvGraphicFramePr/>
          <p:nvPr/>
        </p:nvGraphicFramePr>
        <p:xfrm>
          <a:off x="1160971" y="2221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{ED6B9F17-360A-46D5-AB95-FC21EC78F58A}</a:tableStyleId>
              </a:tblPr>
              <a:tblGrid>
                <a:gridCol w="5029200"/>
                <a:gridCol w="5029200"/>
              </a:tblGrid>
              <a:tr h="59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5.1 Maximum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speed based on blade stall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B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120 m/s</a:t>
                      </a:r>
                      <a:endParaRPr sz="1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3EF"/>
                    </a:solidFill>
                  </a:tcPr>
                </a:tc>
              </a:tr>
              <a:tr h="59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5.2</a:t>
                      </a:r>
                      <a:r>
                        <a:rPr b="1" lang="en-US" sz="1800"/>
                        <a:t> </a:t>
                      </a:r>
                      <a:r>
                        <a:rPr b="1" lang="en-US" sz="1800"/>
                        <a:t>Maximum speed based on power requirement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110m/s</a:t>
                      </a:r>
                      <a:endParaRPr b="1"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9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5.3 Maximum Range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742  Km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  <a:tr h="59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5.4 Maximum Endurance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2.9 hours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Acknowledgement</a:t>
            </a:r>
            <a:endParaRPr b="1"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acknowledge </a:t>
            </a: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Dhwanil Sir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giving us this project, through which we implemented theory learned in class into real application.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References</a:t>
            </a:r>
            <a:endParaRPr b="1"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http://airfoiltools.com/airfoil/naca4digit</a:t>
            </a:r>
            <a:b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</a:b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Aeronautics, Aerodynamics and Flight Mechanics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Barnes &amp; McCormick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https://en.wikipedia.org/wiki/Blade_element_momentum_theory</a:t>
            </a:r>
            <a:b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</a:b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https://www.youtube.com/watch?v=b7JzgybKvys</a:t>
            </a:r>
            <a:b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</a:b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https://colab.research.google.com/drive/1j7yyqqiu0aPtEGgfdpLXn6CjISlaJ0pc?usp=sharing#scrollTo=3KjusZ-jUWc7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https://ntrs.nasa.gov/archive/nasa/casi.ntrs.nasa.gov/19930081433.pdf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2025-01-17T06:28:14Z</dcterms:created>
  <dc:creator>Dhwanil Shukla</dc:creator>
</cp:coreProperties>
</file>